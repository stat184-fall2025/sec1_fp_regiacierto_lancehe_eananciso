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Roboto" panose="020000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c6f9e470d_0_2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c6f9e470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afe94f2308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afe94f2308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afe94f2308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afe94f2308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afe94f2308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afe94f2308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afe94f2308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afe94f2308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afeb016a2a_2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afeb016a2a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afeb016a2a_2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afeb016a2a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afeb016a2a_2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afeb016a2a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feb016a2a_2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afeb016a2a_2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afeb016a2a_2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afeb016a2a_2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City Proper vs. Urban Area: Visualizing Global Population Density</a:t>
            </a:r>
            <a:endParaRPr/>
          </a:p>
        </p:txBody>
      </p:sp>
      <p:sp>
        <p:nvSpPr>
          <p:cNvPr id="86" name="Google Shape;86;p13"/>
          <p:cNvSpPr txBox="1">
            <a:spLocks noGrp="1"/>
          </p:cNvSpPr>
          <p:nvPr>
            <p:ph type="subTitle" idx="1"/>
          </p:nvPr>
        </p:nvSpPr>
        <p:spPr>
          <a:xfrm>
            <a:off x="598088" y="3320588"/>
            <a:ext cx="8222100" cy="4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Ean Anciso, Regi Acierto, Lance He​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 &amp; Objective</a:t>
            </a:r>
            <a:endParaRPr/>
          </a:p>
        </p:txBody>
      </p:sp>
      <p:sp>
        <p:nvSpPr>
          <p:cNvPr id="92" name="Google Shape;92;p14"/>
          <p:cNvSpPr/>
          <p:nvPr/>
        </p:nvSpPr>
        <p:spPr>
          <a:xfrm>
            <a:off x="432350" y="1304875"/>
            <a:ext cx="2469300" cy="607800"/>
          </a:xfrm>
          <a:prstGeom prst="homePlate">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93" name="Google Shape;93;p14"/>
          <p:cNvSpPr txBox="1">
            <a:spLocks noGrp="1"/>
          </p:cNvSpPr>
          <p:nvPr>
            <p:ph type="body" idx="4294967295"/>
          </p:nvPr>
        </p:nvSpPr>
        <p:spPr>
          <a:xfrm>
            <a:off x="432350" y="14515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lt1"/>
                </a:solidFill>
              </a:rPr>
              <a:t>Goal</a:t>
            </a:r>
            <a:endParaRPr>
              <a:solidFill>
                <a:schemeClr val="lt1"/>
              </a:solidFill>
            </a:endParaRPr>
          </a:p>
        </p:txBody>
      </p:sp>
      <p:sp>
        <p:nvSpPr>
          <p:cNvPr id="94" name="Google Shape;94;p14"/>
          <p:cNvSpPr txBox="1">
            <a:spLocks noGrp="1"/>
          </p:cNvSpPr>
          <p:nvPr>
            <p:ph type="body" idx="4294967295"/>
          </p:nvPr>
        </p:nvSpPr>
        <p:spPr>
          <a:xfrm>
            <a:off x="432350" y="2070575"/>
            <a:ext cx="2471700" cy="265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600" b="1"/>
          </a:p>
          <a:p>
            <a:pPr marL="0" lvl="0" indent="0" algn="l" rtl="0">
              <a:spcBef>
                <a:spcPts val="800"/>
              </a:spcBef>
              <a:spcAft>
                <a:spcPts val="800"/>
              </a:spcAft>
              <a:buNone/>
            </a:pPr>
            <a:r>
              <a:rPr lang="en" sz="1500"/>
              <a:t>To analyze the relationship between city area and population for the world's largest cities.</a:t>
            </a:r>
            <a:endParaRPr sz="1500"/>
          </a:p>
        </p:txBody>
      </p:sp>
      <p:sp>
        <p:nvSpPr>
          <p:cNvPr id="95" name="Google Shape;95;p14"/>
          <p:cNvSpPr/>
          <p:nvPr/>
        </p:nvSpPr>
        <p:spPr>
          <a:xfrm>
            <a:off x="3044777" y="1304875"/>
            <a:ext cx="27606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96" name="Google Shape;96;p14"/>
          <p:cNvSpPr txBox="1">
            <a:spLocks noGrp="1"/>
          </p:cNvSpPr>
          <p:nvPr>
            <p:ph type="body" idx="4294967295"/>
          </p:nvPr>
        </p:nvSpPr>
        <p:spPr>
          <a:xfrm>
            <a:off x="3336150" y="14515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lt1"/>
                </a:solidFill>
              </a:rPr>
              <a:t>The Problem</a:t>
            </a:r>
            <a:endParaRPr>
              <a:solidFill>
                <a:schemeClr val="lt1"/>
              </a:solidFill>
            </a:endParaRPr>
          </a:p>
        </p:txBody>
      </p:sp>
      <p:sp>
        <p:nvSpPr>
          <p:cNvPr id="97" name="Google Shape;97;p14"/>
          <p:cNvSpPr txBox="1">
            <a:spLocks noGrp="1"/>
          </p:cNvSpPr>
          <p:nvPr>
            <p:ph type="body" idx="4294967295"/>
          </p:nvPr>
        </p:nvSpPr>
        <p:spPr>
          <a:xfrm>
            <a:off x="3336146" y="2070575"/>
            <a:ext cx="2471700" cy="265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600" b="1"/>
          </a:p>
          <a:p>
            <a:pPr marL="0" lvl="0" indent="0" algn="l" rtl="0">
              <a:spcBef>
                <a:spcPts val="800"/>
              </a:spcBef>
              <a:spcAft>
                <a:spcPts val="0"/>
              </a:spcAft>
              <a:buNone/>
            </a:pPr>
            <a:r>
              <a:rPr lang="en" sz="1500"/>
              <a:t>"How big is a city?" is a hard question. </a:t>
            </a:r>
            <a:endParaRPr sz="1500"/>
          </a:p>
          <a:p>
            <a:pPr marL="0" lvl="0" indent="0" algn="l" rtl="0">
              <a:spcBef>
                <a:spcPts val="800"/>
              </a:spcBef>
              <a:spcAft>
                <a:spcPts val="800"/>
              </a:spcAft>
              <a:buNone/>
            </a:pPr>
            <a:r>
              <a:rPr lang="en" sz="1500"/>
              <a:t>Are we counting the administrative limits </a:t>
            </a:r>
            <a:r>
              <a:rPr lang="en" sz="1500" b="1"/>
              <a:t>(City Proper)</a:t>
            </a:r>
            <a:r>
              <a:rPr lang="en" sz="1500"/>
              <a:t> or the continuous built-up environment </a:t>
            </a:r>
            <a:r>
              <a:rPr lang="en" sz="1500" b="1"/>
              <a:t>(Urban Area)</a:t>
            </a:r>
            <a:r>
              <a:rPr lang="en" sz="1500"/>
              <a:t>?</a:t>
            </a:r>
            <a:endParaRPr sz="1500"/>
          </a:p>
        </p:txBody>
      </p:sp>
      <p:sp>
        <p:nvSpPr>
          <p:cNvPr id="98" name="Google Shape;98;p14"/>
          <p:cNvSpPr/>
          <p:nvPr/>
        </p:nvSpPr>
        <p:spPr>
          <a:xfrm>
            <a:off x="5948502" y="1304875"/>
            <a:ext cx="2760600" cy="607800"/>
          </a:xfrm>
          <a:prstGeom prst="chevron">
            <a:avLst>
              <a:gd name="adj" fmla="val 50000"/>
            </a:avLst>
          </a:prstGeom>
          <a:solidFill>
            <a:schemeClr val="dk1"/>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a:p>
        </p:txBody>
      </p:sp>
      <p:sp>
        <p:nvSpPr>
          <p:cNvPr id="99" name="Google Shape;99;p14"/>
          <p:cNvSpPr txBox="1">
            <a:spLocks noGrp="1"/>
          </p:cNvSpPr>
          <p:nvPr>
            <p:ph type="body" idx="4294967295"/>
          </p:nvPr>
        </p:nvSpPr>
        <p:spPr>
          <a:xfrm>
            <a:off x="6254233" y="1451576"/>
            <a:ext cx="2257200" cy="314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lt1"/>
                </a:solidFill>
              </a:rPr>
              <a:t>Target</a:t>
            </a:r>
            <a:endParaRPr>
              <a:solidFill>
                <a:schemeClr val="lt1"/>
              </a:solidFill>
            </a:endParaRPr>
          </a:p>
        </p:txBody>
      </p:sp>
      <p:sp>
        <p:nvSpPr>
          <p:cNvPr id="100" name="Google Shape;100;p14"/>
          <p:cNvSpPr txBox="1">
            <a:spLocks noGrp="1"/>
          </p:cNvSpPr>
          <p:nvPr>
            <p:ph type="body" idx="4294967295"/>
          </p:nvPr>
        </p:nvSpPr>
        <p:spPr>
          <a:xfrm>
            <a:off x="6254226" y="2070575"/>
            <a:ext cx="2471700" cy="265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600"/>
          </a:p>
          <a:p>
            <a:pPr marL="0" lvl="0" indent="0" algn="l" rtl="0">
              <a:spcBef>
                <a:spcPts val="800"/>
              </a:spcBef>
              <a:spcAft>
                <a:spcPts val="800"/>
              </a:spcAft>
              <a:buNone/>
            </a:pPr>
            <a:r>
              <a:rPr lang="en" sz="1500"/>
              <a:t>We focused on comparing major economies: </a:t>
            </a:r>
            <a:r>
              <a:rPr lang="en" sz="1500" b="1"/>
              <a:t>China, India, and the United States, Brazil, Japan, and Indonesia</a:t>
            </a:r>
            <a:endParaRPr sz="15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Methodology</a:t>
            </a:r>
            <a:endParaRPr/>
          </a:p>
        </p:txBody>
      </p:sp>
      <p:sp>
        <p:nvSpPr>
          <p:cNvPr id="106" name="Google Shape;106;p15"/>
          <p:cNvSpPr txBox="1">
            <a:spLocks noGrp="1"/>
          </p:cNvSpPr>
          <p:nvPr>
            <p:ph type="body" idx="1"/>
          </p:nvPr>
        </p:nvSpPr>
        <p:spPr>
          <a:xfrm>
            <a:off x="311700" y="1229875"/>
            <a:ext cx="5020500" cy="333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000000"/>
                </a:solidFill>
              </a:rPr>
              <a:t>Data Source</a:t>
            </a:r>
            <a:r>
              <a:rPr lang="en" sz="1300">
                <a:solidFill>
                  <a:srgbClr val="000000"/>
                </a:solidFill>
              </a:rPr>
              <a:t>: Scraped the "List of largest cities" from Wikipedia using the rvest library in R.</a:t>
            </a:r>
            <a:endParaRPr sz="1300">
              <a:solidFill>
                <a:srgbClr val="000000"/>
              </a:solidFill>
            </a:endParaRPr>
          </a:p>
          <a:p>
            <a:pPr marL="0" lvl="0" indent="0" algn="l" rtl="0">
              <a:spcBef>
                <a:spcPts val="1600"/>
              </a:spcBef>
              <a:spcAft>
                <a:spcPts val="0"/>
              </a:spcAft>
              <a:buNone/>
            </a:pPr>
            <a:r>
              <a:rPr lang="en" sz="1300">
                <a:solidFill>
                  <a:srgbClr val="000000"/>
                </a:solidFill>
              </a:rPr>
              <a:t>https://en.wikipedia.org/wiki/List_of_largest_cities</a:t>
            </a:r>
            <a:endParaRPr sz="1300">
              <a:solidFill>
                <a:srgbClr val="000000"/>
              </a:solidFill>
            </a:endParaRPr>
          </a:p>
          <a:p>
            <a:pPr marL="0" lvl="0" indent="0" algn="l" rtl="0">
              <a:lnSpc>
                <a:spcPct val="150000"/>
              </a:lnSpc>
              <a:spcBef>
                <a:spcPts val="1600"/>
              </a:spcBef>
              <a:spcAft>
                <a:spcPts val="1200"/>
              </a:spcAft>
              <a:buNone/>
            </a:pPr>
            <a:endParaRPr sz="1300"/>
          </a:p>
        </p:txBody>
      </p:sp>
      <p:pic>
        <p:nvPicPr>
          <p:cNvPr id="107" name="Google Shape;107;p15"/>
          <p:cNvPicPr preferRelativeResize="0"/>
          <p:nvPr/>
        </p:nvPicPr>
        <p:blipFill>
          <a:blip r:embed="rId3">
            <a:alphaModFix/>
          </a:blip>
          <a:stretch>
            <a:fillRect/>
          </a:stretch>
        </p:blipFill>
        <p:spPr>
          <a:xfrm>
            <a:off x="311700" y="2311875"/>
            <a:ext cx="4876801" cy="2468701"/>
          </a:xfrm>
          <a:prstGeom prst="rect">
            <a:avLst/>
          </a:prstGeom>
          <a:noFill/>
          <a:ln>
            <a:noFill/>
          </a:ln>
        </p:spPr>
      </p:pic>
      <p:pic>
        <p:nvPicPr>
          <p:cNvPr id="108" name="Google Shape;108;p15"/>
          <p:cNvPicPr preferRelativeResize="0"/>
          <p:nvPr/>
        </p:nvPicPr>
        <p:blipFill>
          <a:blip r:embed="rId4">
            <a:alphaModFix/>
          </a:blip>
          <a:stretch>
            <a:fillRect/>
          </a:stretch>
        </p:blipFill>
        <p:spPr>
          <a:xfrm>
            <a:off x="5855150" y="480575"/>
            <a:ext cx="3015474" cy="3302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Methodology</a:t>
            </a:r>
            <a:endParaRPr/>
          </a:p>
        </p:txBody>
      </p:sp>
      <p:sp>
        <p:nvSpPr>
          <p:cNvPr id="114" name="Google Shape;114;p16"/>
          <p:cNvSpPr txBox="1">
            <a:spLocks noGrp="1"/>
          </p:cNvSpPr>
          <p:nvPr>
            <p:ph type="body" idx="1"/>
          </p:nvPr>
        </p:nvSpPr>
        <p:spPr>
          <a:xfrm>
            <a:off x="311700" y="1229875"/>
            <a:ext cx="4844100" cy="333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000000"/>
                </a:solidFill>
              </a:rPr>
              <a:t>Wrangling</a:t>
            </a:r>
            <a:r>
              <a:rPr lang="en" sz="1300">
                <a:solidFill>
                  <a:srgbClr val="000000"/>
                </a:solidFill>
              </a:rPr>
              <a:t>:</a:t>
            </a:r>
            <a:endParaRPr sz="1300">
              <a:solidFill>
                <a:srgbClr val="000000"/>
              </a:solidFill>
            </a:endParaRPr>
          </a:p>
          <a:p>
            <a:pPr marL="457200" lvl="0" indent="-311150" algn="l" rtl="0">
              <a:lnSpc>
                <a:spcPct val="150000"/>
              </a:lnSpc>
              <a:spcBef>
                <a:spcPts val="1600"/>
              </a:spcBef>
              <a:spcAft>
                <a:spcPts val="0"/>
              </a:spcAft>
              <a:buClr>
                <a:srgbClr val="000000"/>
              </a:buClr>
              <a:buSzPts val="1300"/>
              <a:buFont typeface="Arial"/>
              <a:buChar char="●"/>
            </a:pPr>
            <a:r>
              <a:rPr lang="en" sz="1300" b="1">
                <a:solidFill>
                  <a:srgbClr val="000000"/>
                </a:solidFill>
              </a:rPr>
              <a:t>Messy Headers</a:t>
            </a:r>
            <a:r>
              <a:rPr lang="en" sz="1300">
                <a:solidFill>
                  <a:srgbClr val="000000"/>
                </a:solidFill>
              </a:rPr>
              <a:t>: The raw data had double headers (garbage rows) which we had to programmatically remove.</a:t>
            </a:r>
            <a:endParaRPr sz="1300">
              <a:solidFill>
                <a:srgbClr val="000000"/>
              </a:solidFill>
            </a:endParaRPr>
          </a:p>
          <a:p>
            <a:pPr marL="457200" lvl="0" indent="-311150" algn="l" rtl="0">
              <a:lnSpc>
                <a:spcPct val="150000"/>
              </a:lnSpc>
              <a:spcBef>
                <a:spcPts val="0"/>
              </a:spcBef>
              <a:spcAft>
                <a:spcPts val="0"/>
              </a:spcAft>
              <a:buClr>
                <a:srgbClr val="000000"/>
              </a:buClr>
              <a:buSzPts val="1300"/>
              <a:buFont typeface="Arial"/>
              <a:buChar char="●"/>
            </a:pPr>
            <a:r>
              <a:rPr lang="en" sz="1300" b="1">
                <a:solidFill>
                  <a:srgbClr val="000000"/>
                </a:solidFill>
              </a:rPr>
              <a:t>Inconsistent Data</a:t>
            </a:r>
            <a:r>
              <a:rPr lang="en" sz="1300">
                <a:solidFill>
                  <a:srgbClr val="000000"/>
                </a:solidFill>
              </a:rPr>
              <a:t>: Many cities were missing "Metropolitan" data, so we filtered specifically for rows that had valid "City Proper" and "Urban Area" data to maximize our sample size.</a:t>
            </a:r>
            <a:endParaRPr sz="1300">
              <a:solidFill>
                <a:srgbClr val="000000"/>
              </a:solidFill>
            </a:endParaRPr>
          </a:p>
          <a:p>
            <a:pPr marL="457200" lvl="0" indent="-311150" algn="l" rtl="0">
              <a:lnSpc>
                <a:spcPct val="150000"/>
              </a:lnSpc>
              <a:spcBef>
                <a:spcPts val="0"/>
              </a:spcBef>
              <a:spcAft>
                <a:spcPts val="0"/>
              </a:spcAft>
              <a:buClr>
                <a:srgbClr val="000000"/>
              </a:buClr>
              <a:buSzPts val="1300"/>
              <a:buFont typeface="Arial"/>
              <a:buChar char="●"/>
            </a:pPr>
            <a:r>
              <a:rPr lang="en" sz="1300" b="1">
                <a:solidFill>
                  <a:srgbClr val="000000"/>
                </a:solidFill>
              </a:rPr>
              <a:t>Data Types</a:t>
            </a:r>
            <a:r>
              <a:rPr lang="en" sz="1300">
                <a:solidFill>
                  <a:srgbClr val="000000"/>
                </a:solidFill>
              </a:rPr>
              <a:t>: Converted text like "10,154,134" into numeric data for analysis.</a:t>
            </a:r>
            <a:endParaRPr/>
          </a:p>
        </p:txBody>
      </p:sp>
      <p:pic>
        <p:nvPicPr>
          <p:cNvPr id="115" name="Google Shape;115;p16" title="Screenshot 2025-12-12 005137.png"/>
          <p:cNvPicPr preferRelativeResize="0"/>
          <p:nvPr/>
        </p:nvPicPr>
        <p:blipFill>
          <a:blip r:embed="rId3">
            <a:alphaModFix/>
          </a:blip>
          <a:stretch>
            <a:fillRect/>
          </a:stretch>
        </p:blipFill>
        <p:spPr>
          <a:xfrm>
            <a:off x="5281725" y="199725"/>
            <a:ext cx="3683401" cy="364621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Statistical Analysis</a:t>
            </a:r>
            <a:endParaRPr/>
          </a:p>
        </p:txBody>
      </p:sp>
      <p:sp>
        <p:nvSpPr>
          <p:cNvPr id="121" name="Google Shape;121;p17"/>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22" name="Google Shape;122;p17" title="Screenshot 2025-12-12 003611.png"/>
          <p:cNvPicPr preferRelativeResize="0"/>
          <p:nvPr/>
        </p:nvPicPr>
        <p:blipFill>
          <a:blip r:embed="rId3">
            <a:alphaModFix/>
          </a:blip>
          <a:stretch>
            <a:fillRect/>
          </a:stretch>
        </p:blipFill>
        <p:spPr>
          <a:xfrm>
            <a:off x="518588" y="1229874"/>
            <a:ext cx="7059135" cy="1459725"/>
          </a:xfrm>
          <a:prstGeom prst="rect">
            <a:avLst/>
          </a:prstGeom>
          <a:noFill/>
          <a:ln>
            <a:noFill/>
          </a:ln>
        </p:spPr>
      </p:pic>
      <p:pic>
        <p:nvPicPr>
          <p:cNvPr id="123" name="Google Shape;123;p17"/>
          <p:cNvPicPr preferRelativeResize="0"/>
          <p:nvPr/>
        </p:nvPicPr>
        <p:blipFill>
          <a:blip r:embed="rId4">
            <a:alphaModFix/>
          </a:blip>
          <a:stretch>
            <a:fillRect/>
          </a:stretch>
        </p:blipFill>
        <p:spPr>
          <a:xfrm>
            <a:off x="518600" y="2780550"/>
            <a:ext cx="7032401" cy="1459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Statistical Analysis</a:t>
            </a:r>
            <a:endParaRPr/>
          </a:p>
          <a:p>
            <a:pPr marL="0" lvl="0" indent="0" algn="l" rtl="0">
              <a:spcBef>
                <a:spcPts val="0"/>
              </a:spcBef>
              <a:spcAft>
                <a:spcPts val="0"/>
              </a:spcAft>
              <a:buNone/>
            </a:pPr>
            <a:endParaRPr/>
          </a:p>
        </p:txBody>
      </p:sp>
      <p:sp>
        <p:nvSpPr>
          <p:cNvPr id="129" name="Google Shape;129;p18"/>
          <p:cNvSpPr txBox="1">
            <a:spLocks noGrp="1"/>
          </p:cNvSpPr>
          <p:nvPr>
            <p:ph type="body" idx="1"/>
          </p:nvPr>
        </p:nvSpPr>
        <p:spPr>
          <a:xfrm>
            <a:off x="311700" y="2803675"/>
            <a:ext cx="6189000" cy="1495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200" b="1">
                <a:solidFill>
                  <a:srgbClr val="000000"/>
                </a:solidFill>
              </a:rPr>
              <a:t>Key Insight : The "City Proper" Anomaly</a:t>
            </a:r>
            <a:endParaRPr sz="1200" b="1">
              <a:solidFill>
                <a:srgbClr val="000000"/>
              </a:solidFill>
            </a:endParaRPr>
          </a:p>
          <a:p>
            <a:pPr marL="457200" lvl="0" indent="-304800" algn="l" rtl="0">
              <a:lnSpc>
                <a:spcPct val="150000"/>
              </a:lnSpc>
              <a:spcBef>
                <a:spcPts val="1600"/>
              </a:spcBef>
              <a:spcAft>
                <a:spcPts val="0"/>
              </a:spcAft>
              <a:buClr>
                <a:srgbClr val="000000"/>
              </a:buClr>
              <a:buSzPts val="1200"/>
              <a:buFont typeface="Arial"/>
              <a:buChar char="●"/>
            </a:pPr>
            <a:r>
              <a:rPr lang="en" sz="1200" i="1">
                <a:solidFill>
                  <a:srgbClr val="000000"/>
                </a:solidFill>
              </a:rPr>
              <a:t>Observation:</a:t>
            </a:r>
            <a:r>
              <a:rPr lang="en" sz="1200">
                <a:solidFill>
                  <a:srgbClr val="000000"/>
                </a:solidFill>
              </a:rPr>
              <a:t> You will likely see that Chinese cities have huge "City Proper" areas compared to the US or India.</a:t>
            </a:r>
            <a:endParaRPr sz="1200">
              <a:solidFill>
                <a:srgbClr val="000000"/>
              </a:solidFill>
            </a:endParaRPr>
          </a:p>
          <a:p>
            <a:pPr marL="457200" lvl="0" indent="-304800" algn="l" rtl="0">
              <a:lnSpc>
                <a:spcPct val="150000"/>
              </a:lnSpc>
              <a:spcBef>
                <a:spcPts val="0"/>
              </a:spcBef>
              <a:spcAft>
                <a:spcPts val="0"/>
              </a:spcAft>
              <a:buClr>
                <a:srgbClr val="000000"/>
              </a:buClr>
              <a:buSzPts val="1200"/>
              <a:buFont typeface="Roboto"/>
              <a:buChar char="●"/>
            </a:pPr>
            <a:r>
              <a:rPr lang="en" sz="1200">
                <a:solidFill>
                  <a:srgbClr val="000000"/>
                </a:solidFill>
              </a:rPr>
              <a:t>In China, a 'City Proper' often includes vast rural counties (municipalities), making their areas massive. In contrast, US cities often have small administrative boundaries (e.g., San Francisco is small, but its urban area is huge).</a:t>
            </a:r>
            <a:endParaRPr sz="1200">
              <a:solidFill>
                <a:srgbClr val="000000"/>
              </a:solidFill>
            </a:endParaRPr>
          </a:p>
          <a:p>
            <a:pPr marL="0" lvl="0" indent="0" algn="l" rtl="0">
              <a:spcBef>
                <a:spcPts val="1200"/>
              </a:spcBef>
              <a:spcAft>
                <a:spcPts val="0"/>
              </a:spcAft>
              <a:buNone/>
            </a:pPr>
            <a:endParaRPr/>
          </a:p>
          <a:p>
            <a:pPr marL="0" lvl="0" indent="0" algn="l" rtl="0">
              <a:spcBef>
                <a:spcPts val="1600"/>
              </a:spcBef>
              <a:spcAft>
                <a:spcPts val="1600"/>
              </a:spcAft>
              <a:buNone/>
            </a:pPr>
            <a:endParaRPr/>
          </a:p>
        </p:txBody>
      </p:sp>
      <p:pic>
        <p:nvPicPr>
          <p:cNvPr id="130" name="Google Shape;130;p18"/>
          <p:cNvPicPr preferRelativeResize="0"/>
          <p:nvPr/>
        </p:nvPicPr>
        <p:blipFill>
          <a:blip r:embed="rId3">
            <a:alphaModFix/>
          </a:blip>
          <a:stretch>
            <a:fillRect/>
          </a:stretch>
        </p:blipFill>
        <p:spPr>
          <a:xfrm>
            <a:off x="311700" y="1112025"/>
            <a:ext cx="7032401" cy="1459725"/>
          </a:xfrm>
          <a:prstGeom prst="rect">
            <a:avLst/>
          </a:prstGeom>
          <a:noFill/>
          <a:ln>
            <a:noFill/>
          </a:ln>
        </p:spPr>
      </p:pic>
      <p:sp>
        <p:nvSpPr>
          <p:cNvPr id="131" name="Google Shape;131;p18"/>
          <p:cNvSpPr/>
          <p:nvPr/>
        </p:nvSpPr>
        <p:spPr>
          <a:xfrm>
            <a:off x="6017875" y="1770349"/>
            <a:ext cx="255900" cy="143100"/>
          </a:xfrm>
          <a:prstGeom prst="roundRect">
            <a:avLst>
              <a:gd name="adj" fmla="val 16667"/>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Visualizations</a:t>
            </a:r>
            <a:endParaRPr/>
          </a:p>
        </p:txBody>
      </p:sp>
      <p:pic>
        <p:nvPicPr>
          <p:cNvPr id="137" name="Google Shape;137;p19" title="city_proper_data_lineplot.png"/>
          <p:cNvPicPr preferRelativeResize="0"/>
          <p:nvPr/>
        </p:nvPicPr>
        <p:blipFill>
          <a:blip r:embed="rId3">
            <a:alphaModFix/>
          </a:blip>
          <a:stretch>
            <a:fillRect/>
          </a:stretch>
        </p:blipFill>
        <p:spPr>
          <a:xfrm>
            <a:off x="311700" y="1281375"/>
            <a:ext cx="3796850" cy="2899039"/>
          </a:xfrm>
          <a:prstGeom prst="rect">
            <a:avLst/>
          </a:prstGeom>
          <a:noFill/>
          <a:ln>
            <a:noFill/>
          </a:ln>
        </p:spPr>
      </p:pic>
      <p:pic>
        <p:nvPicPr>
          <p:cNvPr id="138" name="Google Shape;138;p19" title="urban_data_lineplot.png"/>
          <p:cNvPicPr preferRelativeResize="0"/>
          <p:nvPr/>
        </p:nvPicPr>
        <p:blipFill>
          <a:blip r:embed="rId4">
            <a:alphaModFix/>
          </a:blip>
          <a:stretch>
            <a:fillRect/>
          </a:stretch>
        </p:blipFill>
        <p:spPr>
          <a:xfrm>
            <a:off x="311700" y="1281375"/>
            <a:ext cx="3796850" cy="2899039"/>
          </a:xfrm>
          <a:prstGeom prst="rect">
            <a:avLst/>
          </a:prstGeom>
          <a:noFill/>
          <a:ln>
            <a:noFill/>
          </a:ln>
        </p:spPr>
      </p:pic>
      <p:pic>
        <p:nvPicPr>
          <p:cNvPr id="139" name="Google Shape;139;p19" title="city_proper_data_lineplot.png"/>
          <p:cNvPicPr preferRelativeResize="0"/>
          <p:nvPr/>
        </p:nvPicPr>
        <p:blipFill>
          <a:blip r:embed="rId3">
            <a:alphaModFix/>
          </a:blip>
          <a:stretch>
            <a:fillRect/>
          </a:stretch>
        </p:blipFill>
        <p:spPr>
          <a:xfrm>
            <a:off x="4819025" y="1281375"/>
            <a:ext cx="3796850" cy="2899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0"/>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Visualizations</a:t>
            </a:r>
            <a:endParaRPr/>
          </a:p>
        </p:txBody>
      </p:sp>
      <p:sp>
        <p:nvSpPr>
          <p:cNvPr id="145" name="Google Shape;145;p20"/>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p>
            <a:pPr marL="0" lvl="0" indent="0" algn="l" rtl="0">
              <a:lnSpc>
                <a:spcPct val="150000"/>
              </a:lnSpc>
              <a:spcBef>
                <a:spcPts val="1200"/>
              </a:spcBef>
              <a:spcAft>
                <a:spcPts val="0"/>
              </a:spcAft>
              <a:buNone/>
            </a:pPr>
            <a:r>
              <a:rPr lang="en" sz="1200" b="1">
                <a:solidFill>
                  <a:srgbClr val="000000"/>
                </a:solidFill>
              </a:rPr>
              <a:t>Why Log Scale?</a:t>
            </a:r>
            <a:endParaRPr sz="1200" b="1">
              <a:solidFill>
                <a:srgbClr val="000000"/>
              </a:solidFill>
            </a:endParaRPr>
          </a:p>
          <a:p>
            <a:pPr marL="457200" lvl="0" indent="-304800" algn="l" rtl="0">
              <a:lnSpc>
                <a:spcPct val="150000"/>
              </a:lnSpc>
              <a:spcBef>
                <a:spcPts val="1200"/>
              </a:spcBef>
              <a:spcAft>
                <a:spcPts val="0"/>
              </a:spcAft>
              <a:buClr>
                <a:srgbClr val="000000"/>
              </a:buClr>
              <a:buSzPts val="1200"/>
              <a:buFont typeface="Roboto"/>
              <a:buChar char="●"/>
            </a:pPr>
            <a:r>
              <a:rPr lang="en" sz="1200">
                <a:solidFill>
                  <a:srgbClr val="000000"/>
                </a:solidFill>
              </a:rPr>
              <a:t>We used a logarithmic scale (log10) for the axes because the difference between the smallest and largest cities is massive. A linear plot would squish most cities into a corner.</a:t>
            </a:r>
            <a:endParaRPr sz="1200">
              <a:solidFill>
                <a:srgbClr val="000000"/>
              </a:solidFill>
            </a:endParaRPr>
          </a:p>
          <a:p>
            <a:pPr marL="0" lvl="0" indent="0" algn="l" rtl="0">
              <a:lnSpc>
                <a:spcPct val="150000"/>
              </a:lnSpc>
              <a:spcBef>
                <a:spcPts val="1200"/>
              </a:spcBef>
              <a:spcAft>
                <a:spcPts val="0"/>
              </a:spcAft>
              <a:buNone/>
            </a:pPr>
            <a:r>
              <a:rPr lang="en" sz="1200" b="1">
                <a:solidFill>
                  <a:srgbClr val="000000"/>
                </a:solidFill>
              </a:rPr>
              <a:t>Plot A: Urban Area (Population vs. Area)</a:t>
            </a:r>
            <a:endParaRPr sz="1200" b="1">
              <a:solidFill>
                <a:srgbClr val="000000"/>
              </a:solidFill>
            </a:endParaRPr>
          </a:p>
          <a:p>
            <a:pPr marL="457200" lvl="0" indent="-304800" algn="l" rtl="0">
              <a:lnSpc>
                <a:spcPct val="150000"/>
              </a:lnSpc>
              <a:spcBef>
                <a:spcPts val="1200"/>
              </a:spcBef>
              <a:spcAft>
                <a:spcPts val="0"/>
              </a:spcAft>
              <a:buClr>
                <a:srgbClr val="000000"/>
              </a:buClr>
              <a:buSzPts val="1200"/>
              <a:buFont typeface="Roboto"/>
              <a:buChar char="●"/>
            </a:pPr>
            <a:r>
              <a:rPr lang="en" sz="1200">
                <a:solidFill>
                  <a:srgbClr val="000000"/>
                </a:solidFill>
              </a:rPr>
              <a:t>A strong positive correlation. As the built-up area grows, population grows.</a:t>
            </a:r>
            <a:endParaRPr sz="1200">
              <a:solidFill>
                <a:srgbClr val="000000"/>
              </a:solidFill>
            </a:endParaRPr>
          </a:p>
          <a:p>
            <a:pPr marL="0" lvl="0" indent="0" algn="l" rtl="0">
              <a:lnSpc>
                <a:spcPct val="150000"/>
              </a:lnSpc>
              <a:spcBef>
                <a:spcPts val="1200"/>
              </a:spcBef>
              <a:spcAft>
                <a:spcPts val="0"/>
              </a:spcAft>
              <a:buNone/>
            </a:pPr>
            <a:r>
              <a:rPr lang="en" sz="1200" b="1">
                <a:solidFill>
                  <a:srgbClr val="000000"/>
                </a:solidFill>
              </a:rPr>
              <a:t>Plot B: City Proper (Population vs. Area)</a:t>
            </a:r>
            <a:endParaRPr sz="1200" b="1">
              <a:solidFill>
                <a:srgbClr val="000000"/>
              </a:solidFill>
            </a:endParaRPr>
          </a:p>
          <a:p>
            <a:pPr marL="457200" lvl="0" indent="-304800" algn="l" rtl="0">
              <a:lnSpc>
                <a:spcPct val="150000"/>
              </a:lnSpc>
              <a:spcBef>
                <a:spcPts val="1200"/>
              </a:spcBef>
              <a:spcAft>
                <a:spcPts val="0"/>
              </a:spcAft>
              <a:buClr>
                <a:srgbClr val="000000"/>
              </a:buClr>
              <a:buSzPts val="1200"/>
              <a:buFont typeface="Roboto"/>
              <a:buChar char="●"/>
            </a:pPr>
            <a:r>
              <a:rPr lang="en" sz="1200" i="1">
                <a:solidFill>
                  <a:srgbClr val="000000"/>
                </a:solidFill>
              </a:rPr>
              <a:t>What to look for:</a:t>
            </a:r>
            <a:r>
              <a:rPr lang="en" sz="1200">
                <a:solidFill>
                  <a:srgbClr val="000000"/>
                </a:solidFill>
              </a:rPr>
              <a:t> This plot will be messier (more "scattered").</a:t>
            </a:r>
            <a:endParaRPr sz="1200">
              <a:solidFill>
                <a:srgbClr val="000000"/>
              </a:solidFil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lnSpc>
                <a:spcPct val="150000"/>
              </a:lnSpc>
              <a:spcBef>
                <a:spcPts val="1200"/>
              </a:spcBef>
              <a:spcAft>
                <a:spcPts val="0"/>
              </a:spcAft>
              <a:buNone/>
            </a:pPr>
            <a:endParaRPr sz="1200">
              <a:solidFill>
                <a:srgbClr val="000000"/>
              </a:solidFill>
            </a:endParaRPr>
          </a:p>
          <a:p>
            <a:pPr marL="0" lvl="0" indent="0" algn="l" rtl="0">
              <a:spcBef>
                <a:spcPts val="1200"/>
              </a:spcBef>
              <a:spcAft>
                <a:spcPts val="16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1"/>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 and Future Plans</a:t>
            </a:r>
            <a:endParaRPr/>
          </a:p>
        </p:txBody>
      </p:sp>
      <p:sp>
        <p:nvSpPr>
          <p:cNvPr id="151" name="Google Shape;151;p21"/>
          <p:cNvSpPr txBox="1">
            <a:spLocks noGrp="1"/>
          </p:cNvSpPr>
          <p:nvPr>
            <p:ph type="body" idx="1"/>
          </p:nvPr>
        </p:nvSpPr>
        <p:spPr>
          <a:xfrm>
            <a:off x="311700" y="1321600"/>
            <a:ext cx="8520600" cy="2902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200" b="1">
                <a:solidFill>
                  <a:srgbClr val="000000"/>
                </a:solidFill>
              </a:rPr>
              <a:t>Summary</a:t>
            </a:r>
            <a:endParaRPr sz="1200" b="1">
              <a:solidFill>
                <a:srgbClr val="000000"/>
              </a:solidFill>
            </a:endParaRPr>
          </a:p>
          <a:p>
            <a:pPr marL="457200" lvl="0" indent="-304800" algn="l" rtl="0">
              <a:lnSpc>
                <a:spcPct val="200000"/>
              </a:lnSpc>
              <a:spcBef>
                <a:spcPts val="1600"/>
              </a:spcBef>
              <a:spcAft>
                <a:spcPts val="0"/>
              </a:spcAft>
              <a:buClr>
                <a:srgbClr val="000000"/>
              </a:buClr>
              <a:buSzPts val="1200"/>
              <a:buChar char="●"/>
            </a:pPr>
            <a:r>
              <a:rPr lang="en" sz="1200">
                <a:solidFill>
                  <a:srgbClr val="000000"/>
                </a:solidFill>
              </a:rPr>
              <a:t>City Proper" is a political term; "Urban Area" is a geographical term. When comparing global urbanization, </a:t>
            </a:r>
            <a:r>
              <a:rPr lang="en" sz="1200" b="1">
                <a:solidFill>
                  <a:srgbClr val="000000"/>
                </a:solidFill>
              </a:rPr>
              <a:t>Urban Area</a:t>
            </a:r>
            <a:r>
              <a:rPr lang="en" sz="1200">
                <a:solidFill>
                  <a:srgbClr val="000000"/>
                </a:solidFill>
              </a:rPr>
              <a:t> is often the better metric because it ignores arbitrary borders.</a:t>
            </a:r>
            <a:endParaRPr sz="1200">
              <a:solidFill>
                <a:srgbClr val="000000"/>
              </a:solidFill>
            </a:endParaRPr>
          </a:p>
          <a:p>
            <a:pPr marL="0" lvl="0" indent="0" algn="l" rtl="0">
              <a:lnSpc>
                <a:spcPct val="200000"/>
              </a:lnSpc>
              <a:spcBef>
                <a:spcPts val="1600"/>
              </a:spcBef>
              <a:spcAft>
                <a:spcPts val="0"/>
              </a:spcAft>
              <a:buNone/>
            </a:pPr>
            <a:r>
              <a:rPr lang="en" sz="1200" b="1">
                <a:solidFill>
                  <a:srgbClr val="000000"/>
                </a:solidFill>
              </a:rPr>
              <a:t>Plans</a:t>
            </a:r>
            <a:endParaRPr sz="1200" b="1">
              <a:solidFill>
                <a:srgbClr val="000000"/>
              </a:solidFill>
            </a:endParaRPr>
          </a:p>
          <a:p>
            <a:pPr marL="457200" lvl="0" indent="-304800" algn="l" rtl="0">
              <a:lnSpc>
                <a:spcPct val="200000"/>
              </a:lnSpc>
              <a:spcBef>
                <a:spcPts val="1600"/>
              </a:spcBef>
              <a:spcAft>
                <a:spcPts val="0"/>
              </a:spcAft>
              <a:buClr>
                <a:srgbClr val="000000"/>
              </a:buClr>
              <a:buSzPts val="1200"/>
              <a:buChar char="●"/>
            </a:pPr>
            <a:r>
              <a:rPr lang="en" sz="1200">
                <a:solidFill>
                  <a:srgbClr val="000000"/>
                </a:solidFill>
              </a:rPr>
              <a:t>We could expand this by scraping historical data to see how these cities have grown over time.</a:t>
            </a:r>
            <a:endParaRPr sz="1200">
              <a:solidFill>
                <a:srgbClr val="000000"/>
              </a:solidFill>
            </a:endParaRPr>
          </a:p>
          <a:p>
            <a:pPr marL="457200" lvl="0" indent="-304800" algn="l" rtl="0">
              <a:lnSpc>
                <a:spcPct val="200000"/>
              </a:lnSpc>
              <a:spcBef>
                <a:spcPts val="0"/>
              </a:spcBef>
              <a:spcAft>
                <a:spcPts val="0"/>
              </a:spcAft>
              <a:buClr>
                <a:srgbClr val="000000"/>
              </a:buClr>
              <a:buSzPts val="1200"/>
              <a:buChar char="●"/>
            </a:pPr>
            <a:r>
              <a:rPr lang="en" sz="1200">
                <a:solidFill>
                  <a:srgbClr val="000000"/>
                </a:solidFill>
              </a:rPr>
              <a:t>Build a hypothesis testing model to validate our observations</a:t>
            </a:r>
            <a:endParaRPr sz="1200">
              <a:solidFill>
                <a:srgbClr val="000000"/>
              </a:solidFill>
            </a:endParaRPr>
          </a:p>
          <a:p>
            <a:pPr marL="45720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2"/>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Challenges</a:t>
            </a:r>
            <a:endParaRPr/>
          </a:p>
        </p:txBody>
      </p:sp>
      <p:sp>
        <p:nvSpPr>
          <p:cNvPr id="157" name="Google Shape;157;p22"/>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158" name="Google Shape;158;p22"/>
          <p:cNvSpPr txBox="1">
            <a:spLocks noGrp="1"/>
          </p:cNvSpPr>
          <p:nvPr>
            <p:ph type="body" idx="2"/>
          </p:nvPr>
        </p:nvSpPr>
        <p:spPr>
          <a:xfrm>
            <a:off x="4939500" y="724200"/>
            <a:ext cx="3837000" cy="319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Working with simple data​ makes it hard to get insightful comparisons and relationships</a:t>
            </a:r>
            <a:endParaRPr dirty="0"/>
          </a:p>
          <a:p>
            <a:pPr marL="0" lvl="0" indent="0" algn="l" rtl="0">
              <a:spcBef>
                <a:spcPts val="1600"/>
              </a:spcBef>
              <a:spcAft>
                <a:spcPts val="0"/>
              </a:spcAft>
              <a:buNone/>
            </a:pPr>
            <a:r>
              <a:rPr lang="en" dirty="0"/>
              <a:t>Using github</a:t>
            </a:r>
            <a:endParaRPr dirty="0"/>
          </a:p>
          <a:p>
            <a:pPr marL="0" lvl="0" indent="0" algn="l" rtl="0">
              <a:spcBef>
                <a:spcPts val="1600"/>
              </a:spcBef>
              <a:spcAft>
                <a:spcPts val="1600"/>
              </a:spcAft>
              <a:buNone/>
            </a:pPr>
            <a:r>
              <a:rPr lang="en"/>
              <a:t>Finding places to work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474</Words>
  <Application>Microsoft Office PowerPoint</Application>
  <PresentationFormat>On-screen Show (16:9)</PresentationFormat>
  <Paragraphs>46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Roboto</vt:lpstr>
      <vt:lpstr>Arial</vt:lpstr>
      <vt:lpstr>Geometric</vt:lpstr>
      <vt:lpstr>City Proper vs. Urban Area: Visualizing Global Population Density</vt:lpstr>
      <vt:lpstr>Introduction &amp; Objective</vt:lpstr>
      <vt:lpstr>Methodology</vt:lpstr>
      <vt:lpstr>Methodology</vt:lpstr>
      <vt:lpstr>Statistical Analysis</vt:lpstr>
      <vt:lpstr>Statistical Analysis </vt:lpstr>
      <vt:lpstr>Visualizations</vt:lpstr>
      <vt:lpstr>Visualizations</vt:lpstr>
      <vt:lpstr>Summary and Future Plans</vt:lpstr>
      <vt:lpstr>Challenges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Adler He</cp:lastModifiedBy>
  <cp:revision>1</cp:revision>
  <dcterms:modified xsi:type="dcterms:W3CDTF">2025-12-15T18:15:38Z</dcterms:modified>
</cp:coreProperties>
</file>